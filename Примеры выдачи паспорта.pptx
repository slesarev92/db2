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7" r:id="rId2"/>
    <p:sldId id="266" r:id="rId3"/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>
        <p:scale>
          <a:sx n="100" d="100"/>
          <a:sy n="100" d="100"/>
        </p:scale>
        <p:origin x="936" y="4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FEA320-AF5E-4AA0-8673-7476158D86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1DB4273-2904-4F3F-B3D9-3ED9FFFFFE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FA449D3-FA7C-4542-AFEE-5859861E60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0CCBC-CF4B-4056-923A-8AA8C3EF51D0}" type="datetimeFigureOut">
              <a:rPr lang="ru-RU" smtClean="0"/>
              <a:t>06.04.2026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1C4B232-2928-4ABD-95D7-E3BDE8E3D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8209E01-19AC-4E8A-BE68-BF5334077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7BBB7-4344-4B2A-A6FF-56DD1CED2A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0415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748F8F-7DE6-4112-8DAA-48388ED97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85C3FDE-0ACB-49EE-8671-9C95521C8F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8032A72-78AB-4888-838F-500EC8313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0CCBC-CF4B-4056-923A-8AA8C3EF51D0}" type="datetimeFigureOut">
              <a:rPr lang="ru-RU" smtClean="0"/>
              <a:t>06.04.2026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7DE1107-A71D-4E70-A77D-16850721FF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42639F6-BCF1-4DBD-825F-D2150613D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7BBB7-4344-4B2A-A6FF-56DD1CED2A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43186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4EB3BCB-DD07-478C-B936-D7D9E2078A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D15E2BC-4CCA-448E-86B7-EA2560482C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4EA3EBF-3252-4E40-BEC3-A784ED94E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0CCBC-CF4B-4056-923A-8AA8C3EF51D0}" type="datetimeFigureOut">
              <a:rPr lang="ru-RU" smtClean="0"/>
              <a:t>06.04.2026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1EF4F7A-CF6B-49FB-888D-325942562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9FF6A27-E541-40F0-ADF5-EA3EEE34A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7BBB7-4344-4B2A-A6FF-56DD1CED2A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78842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80FDCA-266C-4DAE-81AA-5FFA54A95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098B6EC-6301-4C8D-8B58-84F4AABD13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D2E4968-2EA0-439D-AF91-8E3A71FAAE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0C28B71-B3C8-441C-BEC7-07CF2B996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0CCBC-CF4B-4056-923A-8AA8C3EF51D0}" type="datetimeFigureOut">
              <a:rPr lang="ru-RU" smtClean="0"/>
              <a:t>06.04.2026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736DFE4-1AC2-4525-B2B0-1155ACD2B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9B2DCE9-64A0-4C47-9171-5E9E43814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7BBB7-4344-4B2A-A6FF-56DD1CED2A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09719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0CA8B9-D40D-44AB-A613-64C274DFB1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EB9B302-F481-4420-9340-F1B4D56AF5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5228349-C15D-4CE3-8E87-049C2BA88E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132553E-EBDF-42F7-ACF5-C0A1BF054C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A824ED43-F10E-44D7-B35E-8C81816D5F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2488884-4987-477B-A28F-7B38A7C822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0CCBC-CF4B-4056-923A-8AA8C3EF51D0}" type="datetimeFigureOut">
              <a:rPr lang="ru-RU" smtClean="0"/>
              <a:t>06.04.2026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B9477352-0D94-4034-A925-53C46CB606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AF6A3750-1833-406F-8BC6-C51F8981C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7BBB7-4344-4B2A-A6FF-56DD1CED2A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12298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86EB53-4B12-43E8-8349-05836FDBF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B86F0E27-EECB-4567-A92B-02F0B23BE9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0CCBC-CF4B-4056-923A-8AA8C3EF51D0}" type="datetimeFigureOut">
              <a:rPr lang="ru-RU" smtClean="0"/>
              <a:t>06.04.2026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CD65B896-4824-490E-85E8-8886CA5F95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28FBB6D-4A73-4CCB-9785-C52B28186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7BBB7-4344-4B2A-A6FF-56DD1CED2A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39722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E9803333-2123-41C6-9236-9B70039787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0CCBC-CF4B-4056-923A-8AA8C3EF51D0}" type="datetimeFigureOut">
              <a:rPr lang="ru-RU" smtClean="0"/>
              <a:t>06.04.2026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0A9A6CE-97A9-4E77-B88E-D33AFFC1D3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C21C3CD-0C3B-486A-94F3-19CFC116B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7BBB7-4344-4B2A-A6FF-56DD1CED2A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39671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44EDA2-607E-4D3B-A919-C649100987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0E0F943-8CDB-4C2D-898B-1418C313F5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D5D77F5-6517-4041-B45A-57C651FDFA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5B1229C-A6AF-49F9-93B9-AE8DA01F19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0CCBC-CF4B-4056-923A-8AA8C3EF51D0}" type="datetimeFigureOut">
              <a:rPr lang="ru-RU" smtClean="0"/>
              <a:t>06.04.2026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6F852A7-8FE3-471D-9399-33FC9A13E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DD2F31D-E9A8-4398-9504-75FB4F287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7BBB7-4344-4B2A-A6FF-56DD1CED2A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50286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482943-7DA9-4EF5-8810-5ECADBD86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C884A5CE-5B75-4613-951F-C9428FD3C6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2077258-75B9-4224-AAE5-E49B89A77E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BED49F5-FF77-40E9-B2E3-6AFD2068F5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0CCBC-CF4B-4056-923A-8AA8C3EF51D0}" type="datetimeFigureOut">
              <a:rPr lang="ru-RU" smtClean="0"/>
              <a:t>06.04.2026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446F687-EA5A-45C7-AE5A-3CA4FAB92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B708B03-7BF2-4ED1-B283-553B454D4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7BBB7-4344-4B2A-A6FF-56DD1CED2A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45834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C5F1F8-9E90-428D-9DA2-08638C35A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C4B85C1-279F-41C7-9981-0D110B4ABE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F9A797A-E60D-45B3-AB5D-3EAE67243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0CCBC-CF4B-4056-923A-8AA8C3EF51D0}" type="datetimeFigureOut">
              <a:rPr lang="ru-RU" smtClean="0"/>
              <a:t>06.04.2026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2287503-5158-49E5-BD79-498E79037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9231432-47C9-446C-9AB9-BAC3A9118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7BBB7-4344-4B2A-A6FF-56DD1CED2A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64344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3213963A-C27C-4613-B51C-10DEEBA6B8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826B3D6-35C3-4447-9B91-5B1C373F67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AB2133E-15C1-48CE-8F85-8503096BE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0CCBC-CF4B-4056-923A-8AA8C3EF51D0}" type="datetimeFigureOut">
              <a:rPr lang="ru-RU" smtClean="0"/>
              <a:t>06.04.2026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6B34972-DBD7-4D8D-9BDB-F424ACF5B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06F0478-4258-4EB9-B967-A9AEA7871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7BBB7-4344-4B2A-A6FF-56DD1CED2A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29820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CB3F17-2E45-4AAB-B2E7-4596D0AA6B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44A58BB-B1A4-4609-ABA0-32645DC409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3F7372B-6E21-44B4-9109-DA28D92F16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C0CCBC-CF4B-4056-923A-8AA8C3EF51D0}" type="datetimeFigureOut">
              <a:rPr lang="ru-RU" smtClean="0"/>
              <a:t>06.04.2026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E88A684-EF01-4861-A8F5-B5E3B33B08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7F2D5B3-8320-4F97-A473-F35BCEFAFF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17BBB7-4344-4B2A-A6FF-56DD1CED2A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90986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B22D856A-3D64-4CFF-A749-E62B2DEAD895}"/>
              </a:ext>
            </a:extLst>
          </p:cNvPr>
          <p:cNvSpPr/>
          <p:nvPr/>
        </p:nvSpPr>
        <p:spPr>
          <a:xfrm>
            <a:off x="6121430" y="2766268"/>
            <a:ext cx="1828800" cy="88294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ПАСПОРТ ПРОЕКТА</a:t>
            </a:r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2636FA72-C7DA-455C-9ABA-63521318B2C8}"/>
              </a:ext>
            </a:extLst>
          </p:cNvPr>
          <p:cNvSpPr/>
          <p:nvPr/>
        </p:nvSpPr>
        <p:spPr>
          <a:xfrm>
            <a:off x="6121430" y="687897"/>
            <a:ext cx="1828800" cy="17532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Вводные по продукту</a:t>
            </a: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3EE856C9-42F6-434B-8DCF-0E05B233B64A}"/>
              </a:ext>
            </a:extLst>
          </p:cNvPr>
          <p:cNvSpPr/>
          <p:nvPr/>
        </p:nvSpPr>
        <p:spPr>
          <a:xfrm>
            <a:off x="3395008" y="687897"/>
            <a:ext cx="1828800" cy="17532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Спецификация технологическая карта</a:t>
            </a: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CCBFF62B-F6CF-4D8B-8DF7-456D3CA5E1EF}"/>
              </a:ext>
            </a:extLst>
          </p:cNvPr>
          <p:cNvSpPr/>
          <p:nvPr/>
        </p:nvSpPr>
        <p:spPr>
          <a:xfrm>
            <a:off x="9021224" y="3317845"/>
            <a:ext cx="1828800" cy="77619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Финансовые метрики</a:t>
            </a: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3541116B-33A1-4A80-889F-B1D95E7F1B04}"/>
              </a:ext>
            </a:extLst>
          </p:cNvPr>
          <p:cNvSpPr/>
          <p:nvPr/>
        </p:nvSpPr>
        <p:spPr>
          <a:xfrm>
            <a:off x="3395008" y="4804793"/>
            <a:ext cx="1828800" cy="17532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Данные по дистрибуции и </a:t>
            </a:r>
            <a:r>
              <a:rPr lang="ru-RU" dirty="0" err="1"/>
              <a:t>офтейкам</a:t>
            </a:r>
            <a:r>
              <a:rPr lang="ru-RU" dirty="0"/>
              <a:t> по каналам</a:t>
            </a:r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970CF810-2C03-47DA-89E0-0E59C4435E65}"/>
              </a:ext>
            </a:extLst>
          </p:cNvPr>
          <p:cNvSpPr/>
          <p:nvPr/>
        </p:nvSpPr>
        <p:spPr>
          <a:xfrm>
            <a:off x="3420886" y="2766267"/>
            <a:ext cx="1828800" cy="17532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Бюджеты проекта</a:t>
            </a:r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0B01A060-E2DF-47EB-91BD-051DB0B6551D}"/>
              </a:ext>
            </a:extLst>
          </p:cNvPr>
          <p:cNvSpPr/>
          <p:nvPr/>
        </p:nvSpPr>
        <p:spPr>
          <a:xfrm>
            <a:off x="6121430" y="4804792"/>
            <a:ext cx="1828800" cy="17532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Затраты на производство, торговлю</a:t>
            </a:r>
          </a:p>
        </p:txBody>
      </p:sp>
      <p:sp>
        <p:nvSpPr>
          <p:cNvPr id="40" name="Прямоугольник 39">
            <a:extLst>
              <a:ext uri="{FF2B5EF4-FFF2-40B4-BE49-F238E27FC236}">
                <a16:creationId xmlns:a16="http://schemas.microsoft.com/office/drawing/2014/main" id="{100E0919-44B7-46DB-A908-B24370B2A831}"/>
              </a:ext>
            </a:extLst>
          </p:cNvPr>
          <p:cNvSpPr/>
          <p:nvPr/>
        </p:nvSpPr>
        <p:spPr>
          <a:xfrm>
            <a:off x="6121430" y="3642917"/>
            <a:ext cx="1828800" cy="88294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ПАСПОРТ ПРОЕКТА</a:t>
            </a:r>
          </a:p>
        </p:txBody>
      </p:sp>
      <p:sp>
        <p:nvSpPr>
          <p:cNvPr id="41" name="Прямоугольник 40">
            <a:extLst>
              <a:ext uri="{FF2B5EF4-FFF2-40B4-BE49-F238E27FC236}">
                <a16:creationId xmlns:a16="http://schemas.microsoft.com/office/drawing/2014/main" id="{44780621-7BA5-4EF2-A382-1639597DD7D1}"/>
              </a:ext>
            </a:extLst>
          </p:cNvPr>
          <p:cNvSpPr/>
          <p:nvPr/>
        </p:nvSpPr>
        <p:spPr>
          <a:xfrm>
            <a:off x="6206742" y="2848057"/>
            <a:ext cx="1658176" cy="15897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ПАСПОРТ ПРОЕКТА</a:t>
            </a:r>
          </a:p>
        </p:txBody>
      </p:sp>
      <p:cxnSp>
        <p:nvCxnSpPr>
          <p:cNvPr id="45" name="Соединитель: уступ 44">
            <a:extLst>
              <a:ext uri="{FF2B5EF4-FFF2-40B4-BE49-F238E27FC236}">
                <a16:creationId xmlns:a16="http://schemas.microsoft.com/office/drawing/2014/main" id="{559106A0-A3A7-4FDD-A8ED-21217E62BB30}"/>
              </a:ext>
            </a:extLst>
          </p:cNvPr>
          <p:cNvCxnSpPr>
            <a:stCxn id="29" idx="3"/>
            <a:endCxn id="2" idx="1"/>
          </p:cNvCxnSpPr>
          <p:nvPr/>
        </p:nvCxnSpPr>
        <p:spPr>
          <a:xfrm>
            <a:off x="5223808" y="1564547"/>
            <a:ext cx="897622" cy="164319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Прямоугольник 46">
            <a:extLst>
              <a:ext uri="{FF2B5EF4-FFF2-40B4-BE49-F238E27FC236}">
                <a16:creationId xmlns:a16="http://schemas.microsoft.com/office/drawing/2014/main" id="{B952C9B3-E0D1-44A0-8ABB-64A90C69F5E7}"/>
              </a:ext>
            </a:extLst>
          </p:cNvPr>
          <p:cNvSpPr/>
          <p:nvPr/>
        </p:nvSpPr>
        <p:spPr>
          <a:xfrm>
            <a:off x="668586" y="687897"/>
            <a:ext cx="1828800" cy="17532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Стоимость Сырья и материалов</a:t>
            </a:r>
          </a:p>
        </p:txBody>
      </p:sp>
      <p:cxnSp>
        <p:nvCxnSpPr>
          <p:cNvPr id="49" name="Прямая со стрелкой 48">
            <a:extLst>
              <a:ext uri="{FF2B5EF4-FFF2-40B4-BE49-F238E27FC236}">
                <a16:creationId xmlns:a16="http://schemas.microsoft.com/office/drawing/2014/main" id="{C003BAF9-2E5C-4748-9BF0-761BEDEFC9C7}"/>
              </a:ext>
            </a:extLst>
          </p:cNvPr>
          <p:cNvCxnSpPr>
            <a:stCxn id="47" idx="3"/>
            <a:endCxn id="29" idx="1"/>
          </p:cNvCxnSpPr>
          <p:nvPr/>
        </p:nvCxnSpPr>
        <p:spPr>
          <a:xfrm>
            <a:off x="2497386" y="1564547"/>
            <a:ext cx="89762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Прямоугольник 49">
            <a:extLst>
              <a:ext uri="{FF2B5EF4-FFF2-40B4-BE49-F238E27FC236}">
                <a16:creationId xmlns:a16="http://schemas.microsoft.com/office/drawing/2014/main" id="{96D07B32-8613-41C2-8C5C-CCC6DA5E0D50}"/>
              </a:ext>
            </a:extLst>
          </p:cNvPr>
          <p:cNvSpPr/>
          <p:nvPr/>
        </p:nvSpPr>
        <p:spPr>
          <a:xfrm>
            <a:off x="9021224" y="5164996"/>
            <a:ext cx="1828800" cy="139309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dirty="0"/>
              <a:t>Анализ чувствительности (устойчивости проекта)</a:t>
            </a:r>
          </a:p>
        </p:txBody>
      </p:sp>
      <p:cxnSp>
        <p:nvCxnSpPr>
          <p:cNvPr id="52" name="Прямая со стрелкой 51">
            <a:extLst>
              <a:ext uri="{FF2B5EF4-FFF2-40B4-BE49-F238E27FC236}">
                <a16:creationId xmlns:a16="http://schemas.microsoft.com/office/drawing/2014/main" id="{FFE98AB7-A50C-4975-BF6D-130442E100F7}"/>
              </a:ext>
            </a:extLst>
          </p:cNvPr>
          <p:cNvCxnSpPr>
            <a:stCxn id="33" idx="3"/>
          </p:cNvCxnSpPr>
          <p:nvPr/>
        </p:nvCxnSpPr>
        <p:spPr>
          <a:xfrm flipV="1">
            <a:off x="5249686" y="3642916"/>
            <a:ext cx="846314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Соединитель: уступ 53">
            <a:extLst>
              <a:ext uri="{FF2B5EF4-FFF2-40B4-BE49-F238E27FC236}">
                <a16:creationId xmlns:a16="http://schemas.microsoft.com/office/drawing/2014/main" id="{8BF11C81-263D-4B4E-BBA3-2B1B65AFC2E3}"/>
              </a:ext>
            </a:extLst>
          </p:cNvPr>
          <p:cNvCxnSpPr>
            <a:stCxn id="32" idx="3"/>
            <a:endCxn id="40" idx="1"/>
          </p:cNvCxnSpPr>
          <p:nvPr/>
        </p:nvCxnSpPr>
        <p:spPr>
          <a:xfrm flipV="1">
            <a:off x="5223808" y="4084389"/>
            <a:ext cx="897622" cy="159705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Прямоугольник 54">
            <a:extLst>
              <a:ext uri="{FF2B5EF4-FFF2-40B4-BE49-F238E27FC236}">
                <a16:creationId xmlns:a16="http://schemas.microsoft.com/office/drawing/2014/main" id="{950E47AA-85E2-49DE-9CB5-FD6AFB31877F}"/>
              </a:ext>
            </a:extLst>
          </p:cNvPr>
          <p:cNvSpPr/>
          <p:nvPr/>
        </p:nvSpPr>
        <p:spPr>
          <a:xfrm>
            <a:off x="9021224" y="687897"/>
            <a:ext cx="1828800" cy="17532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Вводные по ценовой политики и марже каналов (клиентов)</a:t>
            </a:r>
          </a:p>
        </p:txBody>
      </p:sp>
      <p:cxnSp>
        <p:nvCxnSpPr>
          <p:cNvPr id="57" name="Соединитель: уступ 56">
            <a:extLst>
              <a:ext uri="{FF2B5EF4-FFF2-40B4-BE49-F238E27FC236}">
                <a16:creationId xmlns:a16="http://schemas.microsoft.com/office/drawing/2014/main" id="{37058866-05EA-4D95-BCFF-518A161D136D}"/>
              </a:ext>
            </a:extLst>
          </p:cNvPr>
          <p:cNvCxnSpPr>
            <a:stCxn id="55" idx="1"/>
            <a:endCxn id="2" idx="3"/>
          </p:cNvCxnSpPr>
          <p:nvPr/>
        </p:nvCxnSpPr>
        <p:spPr>
          <a:xfrm rot="10800000" flipV="1">
            <a:off x="7950230" y="1564546"/>
            <a:ext cx="1070994" cy="164319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Соединитель: уступ 63">
            <a:extLst>
              <a:ext uri="{FF2B5EF4-FFF2-40B4-BE49-F238E27FC236}">
                <a16:creationId xmlns:a16="http://schemas.microsoft.com/office/drawing/2014/main" id="{6B223951-B25F-41CE-AC45-79F2D15A947A}"/>
              </a:ext>
            </a:extLst>
          </p:cNvPr>
          <p:cNvCxnSpPr>
            <a:cxnSpLocks/>
            <a:stCxn id="41" idx="3"/>
            <a:endCxn id="50" idx="1"/>
          </p:cNvCxnSpPr>
          <p:nvPr/>
        </p:nvCxnSpPr>
        <p:spPr>
          <a:xfrm>
            <a:off x="7864918" y="3642917"/>
            <a:ext cx="1156306" cy="2218627"/>
          </a:xfrm>
          <a:prstGeom prst="bentConnector3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Прямоугольник 64">
            <a:extLst>
              <a:ext uri="{FF2B5EF4-FFF2-40B4-BE49-F238E27FC236}">
                <a16:creationId xmlns:a16="http://schemas.microsoft.com/office/drawing/2014/main" id="{C459DAFA-4EB0-4DE7-ADA4-39AA7B87B52A}"/>
              </a:ext>
            </a:extLst>
          </p:cNvPr>
          <p:cNvSpPr/>
          <p:nvPr/>
        </p:nvSpPr>
        <p:spPr>
          <a:xfrm>
            <a:off x="8820150" y="2628900"/>
            <a:ext cx="2181225" cy="4057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70" name="Прямая со стрелкой 69">
            <a:extLst>
              <a:ext uri="{FF2B5EF4-FFF2-40B4-BE49-F238E27FC236}">
                <a16:creationId xmlns:a16="http://schemas.microsoft.com/office/drawing/2014/main" id="{7EBCC485-22B7-46BD-8185-CF12665F3162}"/>
              </a:ext>
            </a:extLst>
          </p:cNvPr>
          <p:cNvCxnSpPr/>
          <p:nvPr/>
        </p:nvCxnSpPr>
        <p:spPr>
          <a:xfrm>
            <a:off x="7950230" y="3642916"/>
            <a:ext cx="1070994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0C1BCD04-B3D7-4BE3-9A71-B20269CAD335}"/>
              </a:ext>
            </a:extLst>
          </p:cNvPr>
          <p:cNvSpPr txBox="1"/>
          <p:nvPr/>
        </p:nvSpPr>
        <p:spPr>
          <a:xfrm>
            <a:off x="9021224" y="2848057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KPI </a:t>
            </a:r>
            <a:r>
              <a:rPr lang="ru-RU" dirty="0"/>
              <a:t>ПРОЕКТА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09B3518F-CB06-4840-9FE4-32098D1783B0}"/>
              </a:ext>
            </a:extLst>
          </p:cNvPr>
          <p:cNvSpPr txBox="1"/>
          <p:nvPr/>
        </p:nvSpPr>
        <p:spPr>
          <a:xfrm>
            <a:off x="225432" y="3505200"/>
            <a:ext cx="3084264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/>
              <a:t>Проект состоит из 1 или нескольких </a:t>
            </a:r>
            <a:r>
              <a:rPr lang="en-US" sz="1600" dirty="0"/>
              <a:t>SKU</a:t>
            </a:r>
          </a:p>
          <a:p>
            <a:pPr algn="ctr"/>
            <a:endParaRPr lang="en-US" sz="1600" dirty="0"/>
          </a:p>
          <a:p>
            <a:pPr algn="ctr"/>
            <a:r>
              <a:rPr lang="en-US" sz="1600" dirty="0"/>
              <a:t>SKU </a:t>
            </a:r>
            <a:r>
              <a:rPr lang="ru-RU" sz="1600" dirty="0"/>
              <a:t>может торговаться в одном или нескольких каналах</a:t>
            </a:r>
          </a:p>
          <a:p>
            <a:pPr algn="ctr"/>
            <a:endParaRPr lang="ru-RU" sz="1600" dirty="0"/>
          </a:p>
          <a:p>
            <a:pPr algn="ctr"/>
            <a:r>
              <a:rPr lang="ru-RU" sz="1600" dirty="0"/>
              <a:t>Канал это формат торговой точки и/или регион с торговыми точками (пример Гипермаркеты ЦФО</a:t>
            </a:r>
            <a:r>
              <a:rPr lang="en-US" sz="1600" dirty="0"/>
              <a:t>) </a:t>
            </a:r>
            <a:r>
              <a:rPr lang="ru-RU" sz="1600" dirty="0"/>
              <a:t>и/или отдельная торговая точка</a:t>
            </a:r>
          </a:p>
        </p:txBody>
      </p:sp>
      <p:sp>
        <p:nvSpPr>
          <p:cNvPr id="73" name="Прямоугольник 72">
            <a:extLst>
              <a:ext uri="{FF2B5EF4-FFF2-40B4-BE49-F238E27FC236}">
                <a16:creationId xmlns:a16="http://schemas.microsoft.com/office/drawing/2014/main" id="{6EAA971E-A3A8-406A-B79A-FF59D9EF1C2F}"/>
              </a:ext>
            </a:extLst>
          </p:cNvPr>
          <p:cNvSpPr/>
          <p:nvPr/>
        </p:nvSpPr>
        <p:spPr>
          <a:xfrm>
            <a:off x="440172" y="154076"/>
            <a:ext cx="5282280" cy="37555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Дополнительные материалы к паспорту проекта:</a:t>
            </a:r>
            <a:endParaRPr lang="ru-RU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75" name="Прямая со стрелкой 74">
            <a:extLst>
              <a:ext uri="{FF2B5EF4-FFF2-40B4-BE49-F238E27FC236}">
                <a16:creationId xmlns:a16="http://schemas.microsoft.com/office/drawing/2014/main" id="{51D3E429-C145-4B49-BC98-19672A53C2DF}"/>
              </a:ext>
            </a:extLst>
          </p:cNvPr>
          <p:cNvCxnSpPr>
            <a:stCxn id="34" idx="0"/>
            <a:endCxn id="40" idx="2"/>
          </p:cNvCxnSpPr>
          <p:nvPr/>
        </p:nvCxnSpPr>
        <p:spPr>
          <a:xfrm flipV="1">
            <a:off x="7035830" y="4525860"/>
            <a:ext cx="0" cy="2789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Прямоугольник 75">
            <a:extLst>
              <a:ext uri="{FF2B5EF4-FFF2-40B4-BE49-F238E27FC236}">
                <a16:creationId xmlns:a16="http://schemas.microsoft.com/office/drawing/2014/main" id="{8DFB4B52-8FF4-4674-ACD2-CACD7CB9EFD4}"/>
              </a:ext>
            </a:extLst>
          </p:cNvPr>
          <p:cNvSpPr/>
          <p:nvPr/>
        </p:nvSpPr>
        <p:spPr>
          <a:xfrm>
            <a:off x="9021224" y="4234043"/>
            <a:ext cx="1828800" cy="77619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/>
              <a:t>Описания, различные представления данных</a:t>
            </a:r>
          </a:p>
        </p:txBody>
      </p:sp>
      <p:cxnSp>
        <p:nvCxnSpPr>
          <p:cNvPr id="78" name="Прямая со стрелкой 77">
            <a:extLst>
              <a:ext uri="{FF2B5EF4-FFF2-40B4-BE49-F238E27FC236}">
                <a16:creationId xmlns:a16="http://schemas.microsoft.com/office/drawing/2014/main" id="{084BCFA9-91C5-4FE1-99D9-144F02040408}"/>
              </a:ext>
            </a:extLst>
          </p:cNvPr>
          <p:cNvCxnSpPr>
            <a:stCxn id="28" idx="2"/>
            <a:endCxn id="2" idx="0"/>
          </p:cNvCxnSpPr>
          <p:nvPr/>
        </p:nvCxnSpPr>
        <p:spPr>
          <a:xfrm>
            <a:off x="7035830" y="2441196"/>
            <a:ext cx="0" cy="3250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37696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5876CE2-5A29-41BA-A83A-B46B0AC662F7}"/>
              </a:ext>
            </a:extLst>
          </p:cNvPr>
          <p:cNvSpPr txBox="1"/>
          <p:nvPr/>
        </p:nvSpPr>
        <p:spPr>
          <a:xfrm>
            <a:off x="9116792" y="785643"/>
            <a:ext cx="31426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Макро факторы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447B546-7529-48F1-8EE6-D6311644C0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0771" y="600977"/>
            <a:ext cx="4216464" cy="6257023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CA68BFD-A657-4CB8-AA6B-9A351A1800F7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26123" y="1586738"/>
            <a:ext cx="2562437" cy="4006193"/>
          </a:xfrm>
          <a:prstGeom prst="rect">
            <a:avLst/>
          </a:prstGeom>
        </p:spPr>
      </p:pic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DECE24D0-28F1-4C3E-B9ED-BE9DFDB39DB6}"/>
              </a:ext>
            </a:extLst>
          </p:cNvPr>
          <p:cNvSpPr/>
          <p:nvPr/>
        </p:nvSpPr>
        <p:spPr>
          <a:xfrm>
            <a:off x="2600420" y="1043565"/>
            <a:ext cx="701336" cy="1298374"/>
          </a:xfrm>
          <a:prstGeom prst="round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342E2E23-C0C1-44D5-8C80-17E8647298F8}"/>
              </a:ext>
            </a:extLst>
          </p:cNvPr>
          <p:cNvSpPr/>
          <p:nvPr/>
        </p:nvSpPr>
        <p:spPr>
          <a:xfrm>
            <a:off x="474052" y="4819973"/>
            <a:ext cx="2876796" cy="1569609"/>
          </a:xfrm>
          <a:prstGeom prst="round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FC5C66-538A-4765-8397-252BD5C45B43}"/>
              </a:ext>
            </a:extLst>
          </p:cNvPr>
          <p:cNvSpPr txBox="1"/>
          <p:nvPr/>
        </p:nvSpPr>
        <p:spPr>
          <a:xfrm>
            <a:off x="827459" y="5671370"/>
            <a:ext cx="21597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algn="ctr">
              <a:defRPr sz="1200" i="1">
                <a:solidFill>
                  <a:srgbClr val="00B050"/>
                </a:solidFill>
              </a:defRPr>
            </a:lvl1pPr>
          </a:lstStyle>
          <a:p>
            <a:r>
              <a:rPr lang="ru-RU" dirty="0"/>
              <a:t>Одно </a:t>
            </a:r>
            <a:r>
              <a:rPr lang="en-US" dirty="0"/>
              <a:t>SKU </a:t>
            </a:r>
            <a:r>
              <a:rPr lang="ru-RU" dirty="0"/>
              <a:t>для шести </a:t>
            </a:r>
            <a:r>
              <a:rPr lang="ru-RU" dirty="0" err="1"/>
              <a:t>кастомных</a:t>
            </a:r>
            <a:r>
              <a:rPr lang="ru-RU" dirty="0"/>
              <a:t> каналов торговли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8C4F49E-21D8-4805-86A4-DB66CA776056}"/>
              </a:ext>
            </a:extLst>
          </p:cNvPr>
          <p:cNvSpPr txBox="1"/>
          <p:nvPr/>
        </p:nvSpPr>
        <p:spPr>
          <a:xfrm>
            <a:off x="2537847" y="1061811"/>
            <a:ext cx="8345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i="1" dirty="0">
                <a:solidFill>
                  <a:srgbClr val="00B050"/>
                </a:solidFill>
              </a:rPr>
              <a:t>Одно </a:t>
            </a:r>
            <a:r>
              <a:rPr lang="en-US" sz="1200" i="1" dirty="0">
                <a:solidFill>
                  <a:srgbClr val="00B050"/>
                </a:solidFill>
              </a:rPr>
              <a:t>SKU </a:t>
            </a:r>
            <a:r>
              <a:rPr lang="ru-RU" sz="1200" i="1" dirty="0">
                <a:solidFill>
                  <a:srgbClr val="00B050"/>
                </a:solidFill>
              </a:rPr>
              <a:t>в одном канале</a:t>
            </a:r>
          </a:p>
        </p:txBody>
      </p:sp>
      <p:sp>
        <p:nvSpPr>
          <p:cNvPr id="11" name="Левая фигурная скобка 10">
            <a:extLst>
              <a:ext uri="{FF2B5EF4-FFF2-40B4-BE49-F238E27FC236}">
                <a16:creationId xmlns:a16="http://schemas.microsoft.com/office/drawing/2014/main" id="{C4C54EEE-8D43-478A-8D9D-6E00FE292C0C}"/>
              </a:ext>
            </a:extLst>
          </p:cNvPr>
          <p:cNvSpPr/>
          <p:nvPr/>
        </p:nvSpPr>
        <p:spPr>
          <a:xfrm flipH="1">
            <a:off x="8841153" y="596564"/>
            <a:ext cx="259334" cy="608436"/>
          </a:xfrm>
          <a:prstGeom prst="leftBrac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0574B33-6E96-4B3E-B596-2CE10933DF72}"/>
              </a:ext>
            </a:extLst>
          </p:cNvPr>
          <p:cNvSpPr txBox="1"/>
          <p:nvPr/>
        </p:nvSpPr>
        <p:spPr>
          <a:xfrm>
            <a:off x="9116793" y="2155384"/>
            <a:ext cx="157165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Характеристики </a:t>
            </a:r>
            <a:r>
              <a:rPr lang="en-US" sz="1400" dirty="0"/>
              <a:t>SKU </a:t>
            </a:r>
            <a:r>
              <a:rPr lang="ru-RU" sz="1400" dirty="0"/>
              <a:t>на примере канала </a:t>
            </a:r>
            <a:r>
              <a:rPr lang="en-US" sz="1400" dirty="0"/>
              <a:t>HM</a:t>
            </a:r>
            <a:endParaRPr lang="ru-RU" sz="1400" dirty="0"/>
          </a:p>
        </p:txBody>
      </p:sp>
      <p:sp>
        <p:nvSpPr>
          <p:cNvPr id="13" name="Левая фигурная скобка 12">
            <a:extLst>
              <a:ext uri="{FF2B5EF4-FFF2-40B4-BE49-F238E27FC236}">
                <a16:creationId xmlns:a16="http://schemas.microsoft.com/office/drawing/2014/main" id="{2BD461C0-0F1F-47DC-803E-B4780F9D1146}"/>
              </a:ext>
            </a:extLst>
          </p:cNvPr>
          <p:cNvSpPr/>
          <p:nvPr/>
        </p:nvSpPr>
        <p:spPr>
          <a:xfrm flipH="1">
            <a:off x="8842608" y="1513482"/>
            <a:ext cx="259335" cy="1769904"/>
          </a:xfrm>
          <a:prstGeom prst="leftBrac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Левая фигурная скобка 13">
            <a:extLst>
              <a:ext uri="{FF2B5EF4-FFF2-40B4-BE49-F238E27FC236}">
                <a16:creationId xmlns:a16="http://schemas.microsoft.com/office/drawing/2014/main" id="{6904ED9A-B554-4160-B7B3-2BC6E17D32A6}"/>
              </a:ext>
            </a:extLst>
          </p:cNvPr>
          <p:cNvSpPr/>
          <p:nvPr/>
        </p:nvSpPr>
        <p:spPr>
          <a:xfrm flipH="1">
            <a:off x="8842608" y="3567157"/>
            <a:ext cx="259335" cy="608436"/>
          </a:xfrm>
          <a:prstGeom prst="leftBrac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17D4BB9-92FA-43A8-9EF0-B17FF3206C19}"/>
              </a:ext>
            </a:extLst>
          </p:cNvPr>
          <p:cNvSpPr txBox="1"/>
          <p:nvPr/>
        </p:nvSpPr>
        <p:spPr>
          <a:xfrm>
            <a:off x="9116792" y="3732875"/>
            <a:ext cx="31426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Вводные по торговле и коммерции</a:t>
            </a:r>
          </a:p>
        </p:txBody>
      </p:sp>
      <p:sp>
        <p:nvSpPr>
          <p:cNvPr id="16" name="Левая фигурная скобка 15">
            <a:extLst>
              <a:ext uri="{FF2B5EF4-FFF2-40B4-BE49-F238E27FC236}">
                <a16:creationId xmlns:a16="http://schemas.microsoft.com/office/drawing/2014/main" id="{1655DDD7-3D41-4C91-B06F-EC2A09D3C58E}"/>
              </a:ext>
            </a:extLst>
          </p:cNvPr>
          <p:cNvSpPr/>
          <p:nvPr/>
        </p:nvSpPr>
        <p:spPr>
          <a:xfrm flipH="1">
            <a:off x="8842608" y="4213488"/>
            <a:ext cx="259335" cy="747490"/>
          </a:xfrm>
          <a:prstGeom prst="leftBrac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D28C1AB-6347-4C5F-881C-59A15EC8DF71}"/>
              </a:ext>
            </a:extLst>
          </p:cNvPr>
          <p:cNvSpPr txBox="1"/>
          <p:nvPr/>
        </p:nvSpPr>
        <p:spPr>
          <a:xfrm>
            <a:off x="9116792" y="4213488"/>
            <a:ext cx="3142695" cy="4693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Расчетные цены</a:t>
            </a:r>
          </a:p>
          <a:p>
            <a:r>
              <a:rPr lang="en-US" sz="1050" dirty="0"/>
              <a:t>(</a:t>
            </a:r>
            <a:r>
              <a:rPr lang="ru-RU" sz="1050" dirty="0"/>
              <a:t>элемент </a:t>
            </a:r>
            <a:r>
              <a:rPr lang="en-US" sz="1050" dirty="0"/>
              <a:t>Value Chain)</a:t>
            </a:r>
            <a:endParaRPr lang="ru-RU" sz="105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A3DBF18-E8CD-4D1E-A788-792A3D1C305F}"/>
              </a:ext>
            </a:extLst>
          </p:cNvPr>
          <p:cNvSpPr txBox="1"/>
          <p:nvPr/>
        </p:nvSpPr>
        <p:spPr>
          <a:xfrm>
            <a:off x="9101943" y="4900045"/>
            <a:ext cx="28161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/>
              <a:t>Рецептуры от </a:t>
            </a:r>
            <a:r>
              <a:rPr lang="en-US" sz="1200" dirty="0"/>
              <a:t>RnD</a:t>
            </a:r>
            <a:endParaRPr lang="ru-RU" sz="12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D81F7C6-382B-4897-BDEC-34F05037AED6}"/>
              </a:ext>
            </a:extLst>
          </p:cNvPr>
          <p:cNvSpPr txBox="1"/>
          <p:nvPr/>
        </p:nvSpPr>
        <p:spPr>
          <a:xfrm>
            <a:off x="9101943" y="5034649"/>
            <a:ext cx="28161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/>
              <a:t>Спецификация на СИМ от ДП</a:t>
            </a:r>
          </a:p>
        </p:txBody>
      </p:sp>
      <p:sp>
        <p:nvSpPr>
          <p:cNvPr id="20" name="Левая фигурная скобка 19">
            <a:extLst>
              <a:ext uri="{FF2B5EF4-FFF2-40B4-BE49-F238E27FC236}">
                <a16:creationId xmlns:a16="http://schemas.microsoft.com/office/drawing/2014/main" id="{8948B04D-F11F-4923-8098-CE9DFD053641}"/>
              </a:ext>
            </a:extLst>
          </p:cNvPr>
          <p:cNvSpPr/>
          <p:nvPr/>
        </p:nvSpPr>
        <p:spPr>
          <a:xfrm flipH="1">
            <a:off x="8861202" y="5206073"/>
            <a:ext cx="240742" cy="603554"/>
          </a:xfrm>
          <a:prstGeom prst="leftBrac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19ACAC3-128C-4600-B3C2-F7748DE5ECB5}"/>
              </a:ext>
            </a:extLst>
          </p:cNvPr>
          <p:cNvSpPr txBox="1"/>
          <p:nvPr/>
        </p:nvSpPr>
        <p:spPr>
          <a:xfrm>
            <a:off x="9116792" y="5350589"/>
            <a:ext cx="31426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Затраты из </a:t>
            </a:r>
            <a:r>
              <a:rPr lang="en-US" sz="1400" dirty="0"/>
              <a:t>profitability</a:t>
            </a:r>
            <a:endParaRPr lang="ru-RU" sz="1400" dirty="0"/>
          </a:p>
        </p:txBody>
      </p:sp>
      <p:sp>
        <p:nvSpPr>
          <p:cNvPr id="22" name="Левая фигурная скобка 21">
            <a:extLst>
              <a:ext uri="{FF2B5EF4-FFF2-40B4-BE49-F238E27FC236}">
                <a16:creationId xmlns:a16="http://schemas.microsoft.com/office/drawing/2014/main" id="{5D1CF059-F679-4933-B63D-D81FA511F98A}"/>
              </a:ext>
            </a:extLst>
          </p:cNvPr>
          <p:cNvSpPr/>
          <p:nvPr/>
        </p:nvSpPr>
        <p:spPr>
          <a:xfrm flipH="1">
            <a:off x="8865907" y="5977105"/>
            <a:ext cx="240742" cy="816598"/>
          </a:xfrm>
          <a:prstGeom prst="leftBrac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99FC937-1E79-4F14-A72A-81BCA587C67D}"/>
              </a:ext>
            </a:extLst>
          </p:cNvPr>
          <p:cNvSpPr txBox="1"/>
          <p:nvPr/>
        </p:nvSpPr>
        <p:spPr>
          <a:xfrm>
            <a:off x="9116792" y="5974221"/>
            <a:ext cx="314269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Расчетная экономика канала</a:t>
            </a:r>
          </a:p>
          <a:p>
            <a:r>
              <a:rPr lang="en-US" sz="1100" dirty="0"/>
              <a:t>(</a:t>
            </a:r>
            <a:r>
              <a:rPr lang="ru-RU" sz="1100" dirty="0"/>
              <a:t>элемент </a:t>
            </a:r>
            <a:r>
              <a:rPr lang="en-US" sz="1100" dirty="0"/>
              <a:t>Value Chain</a:t>
            </a:r>
            <a:r>
              <a:rPr lang="ru-RU" sz="1100" dirty="0"/>
              <a:t>, !!!Не учитывает ОРЕХ)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C1CF35D-C764-480F-9E2A-F0EE4C7333A5}"/>
              </a:ext>
            </a:extLst>
          </p:cNvPr>
          <p:cNvSpPr txBox="1"/>
          <p:nvPr/>
        </p:nvSpPr>
        <p:spPr>
          <a:xfrm>
            <a:off x="474053" y="339131"/>
            <a:ext cx="27145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/>
              <a:t>ЛИСТ «</a:t>
            </a:r>
            <a:r>
              <a:rPr lang="en-US" b="1" dirty="0"/>
              <a:t>DASH</a:t>
            </a:r>
            <a:r>
              <a:rPr lang="ru-RU" b="1" dirty="0"/>
              <a:t>»</a:t>
            </a:r>
          </a:p>
          <a:p>
            <a:pPr algn="ctr"/>
            <a:r>
              <a:rPr lang="ru-RU" b="1" dirty="0"/>
              <a:t>КЛЮЧЕВОЙ ИНТЕРФЕЙС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7B123CA-D3AA-465C-92AC-360439EF51A9}"/>
              </a:ext>
            </a:extLst>
          </p:cNvPr>
          <p:cNvSpPr txBox="1"/>
          <p:nvPr/>
        </p:nvSpPr>
        <p:spPr>
          <a:xfrm>
            <a:off x="4424156" y="302072"/>
            <a:ext cx="44496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/>
              <a:t>«МОДУЛЬ» ОДНО </a:t>
            </a:r>
            <a:r>
              <a:rPr lang="en-US" b="1" dirty="0"/>
              <a:t>SKU </a:t>
            </a:r>
            <a:r>
              <a:rPr lang="ru-RU" b="1" dirty="0"/>
              <a:t>В ОДНОМ КАНАЛЕ</a:t>
            </a:r>
          </a:p>
        </p:txBody>
      </p:sp>
      <p:sp>
        <p:nvSpPr>
          <p:cNvPr id="26" name="Левая фигурная скобка 25">
            <a:extLst>
              <a:ext uri="{FF2B5EF4-FFF2-40B4-BE49-F238E27FC236}">
                <a16:creationId xmlns:a16="http://schemas.microsoft.com/office/drawing/2014/main" id="{C51080EA-7FFF-460E-8E47-F9CC62652566}"/>
              </a:ext>
            </a:extLst>
          </p:cNvPr>
          <p:cNvSpPr/>
          <p:nvPr/>
        </p:nvSpPr>
        <p:spPr>
          <a:xfrm flipH="1">
            <a:off x="8861202" y="4960978"/>
            <a:ext cx="240742" cy="245095"/>
          </a:xfrm>
          <a:prstGeom prst="leftBrac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Левая фигурная скобка 26">
            <a:extLst>
              <a:ext uri="{FF2B5EF4-FFF2-40B4-BE49-F238E27FC236}">
                <a16:creationId xmlns:a16="http://schemas.microsoft.com/office/drawing/2014/main" id="{72480DC8-BD67-4CD8-AB9B-4C3163EC15AE}"/>
              </a:ext>
            </a:extLst>
          </p:cNvPr>
          <p:cNvSpPr/>
          <p:nvPr/>
        </p:nvSpPr>
        <p:spPr>
          <a:xfrm rot="10800000" flipH="1">
            <a:off x="3731905" y="1204998"/>
            <a:ext cx="701336" cy="5588703"/>
          </a:xfrm>
          <a:prstGeom prst="leftBrace">
            <a:avLst>
              <a:gd name="adj1" fmla="val 38957"/>
              <a:gd name="adj2" fmla="val 89972"/>
            </a:avLst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4702E28D-693A-44BB-83FB-171025A16049}"/>
              </a:ext>
            </a:extLst>
          </p:cNvPr>
          <p:cNvSpPr/>
          <p:nvPr/>
        </p:nvSpPr>
        <p:spPr>
          <a:xfrm>
            <a:off x="440172" y="-23938"/>
            <a:ext cx="9256188" cy="37555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Сейчас расчеты реализованы в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EXCEL </a:t>
            </a:r>
            <a:r>
              <a:rPr lang="ru-RU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с помощью формул,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power query</a:t>
            </a:r>
            <a:r>
              <a:rPr lang="ru-RU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power pivot</a:t>
            </a:r>
            <a:r>
              <a:rPr lang="ru-RU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pivot</a:t>
            </a:r>
            <a:r>
              <a:rPr lang="ru-RU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endParaRPr lang="ru-RU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9706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A346496-7D7F-4A84-AC8F-2F352E2926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4789" y="756210"/>
            <a:ext cx="8479505" cy="4476806"/>
          </a:xfrm>
          <a:prstGeom prst="rect">
            <a:avLst/>
          </a:prstGeom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2C690F05-49A4-4B22-8B87-D7EA808C690B}"/>
              </a:ext>
            </a:extLst>
          </p:cNvPr>
          <p:cNvSpPr/>
          <p:nvPr/>
        </p:nvSpPr>
        <p:spPr>
          <a:xfrm>
            <a:off x="440172" y="154076"/>
            <a:ext cx="3677673" cy="37555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Сводный лист финансовых метрик</a:t>
            </a:r>
            <a:endParaRPr lang="ru-RU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14768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907BAB4-E633-45BE-87F5-257C9196B9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6421" y="500891"/>
            <a:ext cx="6932425" cy="6024166"/>
          </a:xfrm>
          <a:prstGeom prst="rect">
            <a:avLst/>
          </a:prstGeom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A17615A9-E45D-4A49-B896-B837E476B5E9}"/>
              </a:ext>
            </a:extLst>
          </p:cNvPr>
          <p:cNvSpPr/>
          <p:nvPr/>
        </p:nvSpPr>
        <p:spPr>
          <a:xfrm>
            <a:off x="289170" y="145167"/>
            <a:ext cx="3677673" cy="37555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Сводный лист финансовых метрик</a:t>
            </a:r>
            <a:endParaRPr lang="ru-RU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3985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38FF021-1EEA-44F1-96BA-D8597CC263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6679" y="890360"/>
            <a:ext cx="10178642" cy="5701759"/>
          </a:xfrm>
          <a:prstGeom prst="rect">
            <a:avLst/>
          </a:prstGeom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E2AE1557-9D48-4BCE-AE7F-6DDC699B31FA}"/>
              </a:ext>
            </a:extLst>
          </p:cNvPr>
          <p:cNvSpPr/>
          <p:nvPr/>
        </p:nvSpPr>
        <p:spPr>
          <a:xfrm>
            <a:off x="232227" y="182353"/>
            <a:ext cx="20969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Продуктовый микс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999597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93C2F6E-36E4-4AD4-91AA-FE579D7317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341" y="508903"/>
            <a:ext cx="10435158" cy="6206484"/>
          </a:xfrm>
          <a:prstGeom prst="rect">
            <a:avLst/>
          </a:prstGeom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658A3466-C40B-4C6C-B166-C6757326878D}"/>
              </a:ext>
            </a:extLst>
          </p:cNvPr>
          <p:cNvSpPr/>
          <p:nvPr/>
        </p:nvSpPr>
        <p:spPr>
          <a:xfrm>
            <a:off x="232227" y="182353"/>
            <a:ext cx="30037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>
                <a:latin typeface="Calibri" panose="020F0502020204030204" pitchFamily="34" charset="0"/>
                <a:cs typeface="Times New Roman" panose="02020603050405020304" pitchFamily="18" charset="0"/>
              </a:rPr>
              <a:t>Ключевые метрики проекта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10353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77D7DEA-CC71-46B6-A68F-BE1E3DBEAD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939" y="480601"/>
            <a:ext cx="11622122" cy="5896798"/>
          </a:xfrm>
          <a:prstGeom prst="rect">
            <a:avLst/>
          </a:prstGeom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2BFA8DE7-7F2C-43AF-B70D-065D6F85B442}"/>
              </a:ext>
            </a:extLst>
          </p:cNvPr>
          <p:cNvSpPr/>
          <p:nvPr/>
        </p:nvSpPr>
        <p:spPr>
          <a:xfrm>
            <a:off x="426120" y="207520"/>
            <a:ext cx="32192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Анализ чувствительности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NPV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819675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F7B5822-6F8D-4A6F-9E24-4A8F4E3183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176" y="1247470"/>
            <a:ext cx="10907647" cy="4363059"/>
          </a:xfrm>
          <a:prstGeom prst="rect">
            <a:avLst/>
          </a:prstGeom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92020A5F-74BE-4325-B556-4DF153104D36}"/>
              </a:ext>
            </a:extLst>
          </p:cNvPr>
          <p:cNvSpPr/>
          <p:nvPr/>
        </p:nvSpPr>
        <p:spPr>
          <a:xfrm>
            <a:off x="642176" y="668914"/>
            <a:ext cx="29754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Стакан себестоимости и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PL</a:t>
            </a:r>
            <a:r>
              <a:rPr lang="ru-RU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047433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29DBFA8-D5FB-4115-AB46-9A3D37435A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06455"/>
            <a:ext cx="12192000" cy="4445089"/>
          </a:xfrm>
          <a:prstGeom prst="rect">
            <a:avLst/>
          </a:prstGeom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37C1A4AC-0519-4FCA-B9A2-F0E0DBCBF02E}"/>
              </a:ext>
            </a:extLst>
          </p:cNvPr>
          <p:cNvSpPr/>
          <p:nvPr/>
        </p:nvSpPr>
        <p:spPr>
          <a:xfrm>
            <a:off x="157176" y="509523"/>
            <a:ext cx="189474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Бюджет проекта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873394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88E04C0-1F9E-420F-B059-9D7E708487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119" y="1580476"/>
            <a:ext cx="11076264" cy="4111176"/>
          </a:xfrm>
          <a:prstGeom prst="rect">
            <a:avLst/>
          </a:prstGeom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88BDDC0A-860A-4754-AD70-D92684D826CF}"/>
              </a:ext>
            </a:extLst>
          </p:cNvPr>
          <p:cNvSpPr/>
          <p:nvPr/>
        </p:nvSpPr>
        <p:spPr>
          <a:xfrm>
            <a:off x="775568" y="797016"/>
            <a:ext cx="15807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План продаж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602935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BB24AE5-B432-4128-B213-4913AC4F26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007" y="1102833"/>
            <a:ext cx="11311156" cy="3102082"/>
          </a:xfrm>
          <a:prstGeom prst="rect">
            <a:avLst/>
          </a:prstGeom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E856B0E3-926C-44B0-89CD-A3A89CEB14EF}"/>
              </a:ext>
            </a:extLst>
          </p:cNvPr>
          <p:cNvSpPr/>
          <p:nvPr/>
        </p:nvSpPr>
        <p:spPr>
          <a:xfrm>
            <a:off x="917530" y="585024"/>
            <a:ext cx="11961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План АКБ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043758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1F8AF03-CAD7-4159-8A34-2AFC24A200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250" y="977094"/>
            <a:ext cx="10335500" cy="5880906"/>
          </a:xfrm>
          <a:prstGeom prst="rect">
            <a:avLst/>
          </a:prstGeom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3DC84B4B-0337-443B-930A-C1260039CD76}"/>
              </a:ext>
            </a:extLst>
          </p:cNvPr>
          <p:cNvSpPr/>
          <p:nvPr/>
        </p:nvSpPr>
        <p:spPr>
          <a:xfrm>
            <a:off x="182120" y="366910"/>
            <a:ext cx="42944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Спецификации (технологические карты)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6405155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218</Words>
  <Application>Microsoft Office PowerPoint</Application>
  <PresentationFormat>Широкоэкранный</PresentationFormat>
  <Paragraphs>46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Степанов Сергей Сергеевич</dc:creator>
  <cp:lastModifiedBy>Степанов Сергей Сергеевич</cp:lastModifiedBy>
  <cp:revision>5</cp:revision>
  <dcterms:created xsi:type="dcterms:W3CDTF">2026-04-06T14:32:43Z</dcterms:created>
  <dcterms:modified xsi:type="dcterms:W3CDTF">2026-04-06T15:03:59Z</dcterms:modified>
</cp:coreProperties>
</file>